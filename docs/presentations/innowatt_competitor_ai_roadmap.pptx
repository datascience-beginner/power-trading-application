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BB5D2"/>
                </a:solidFill>
                <a:latin typeface="Aptos"/>
              </a:rPr>
              <a:t>INNOWATT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8046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Competitor Intelligence</a:t>
            </a:r>
            <a:br/>
            <a:r>
              <a:t>&amp; AI Execution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7223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FDDEF"/>
                </a:solidFill>
                <a:latin typeface="Aptos"/>
              </a:rPr>
              <a:t>From energy dashboards to an explainable, agentic power-procurement operating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166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B5D2"/>
                </a:solidFill>
                <a:latin typeface="Aptos"/>
              </a:rPr>
              <a:t>Solar  •  IEX  •  TNEB  •  15-minute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989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7B9D0"/>
                </a:solidFill>
                <a:latin typeface="Aptos"/>
              </a:rPr>
              <a:t>Strategy baseline — 11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C34"/>
                </a:solidFill>
                <a:latin typeface="Aptos"/>
              </a:rPr>
              <a:t>Executive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F84"/>
                </a:solidFill>
                <a:latin typeface="Aptos"/>
              </a:rPr>
              <a:t>What the competitor benchmark means for Innowatt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F84"/>
                </a:solidFill>
                <a:latin typeface="Aptos"/>
              </a:rPr>
              <a:t>INNOWATT ENERGY AI  |  CONFIDENTIAL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D6F84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47472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1828800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63039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The market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56231"/>
            <a:ext cx="3127248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Leaders combine governed energy data, domain forecasts, constraint-aware optimization, controlled automation, and audit-ready explanations.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25880"/>
            <a:ext cx="347472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325880"/>
            <a:ext cx="73152" cy="1828800"/>
          </a:xfrm>
          <a:prstGeom prst="rect">
            <a:avLst/>
          </a:prstGeom>
          <a:solidFill>
            <a:srgbClr val="1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463039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Our positioning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856231"/>
            <a:ext cx="3127248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AI-assisted procurement for Indian C&amp;I clients: forecast demand, solar and IEX; optimize Solar/IEX/TNEB; explain every recommendation.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25880"/>
            <a:ext cx="347472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73152" cy="1828800"/>
          </a:xfrm>
          <a:prstGeom prst="rect">
            <a:avLst/>
          </a:prstGeom>
          <a:solidFill>
            <a:srgbClr val="F1A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63039"/>
            <a:ext cx="3154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First product move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856231"/>
            <a:ext cx="3127248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Launch read-only Data Quality and Market Explanation capabilities before forecasting or autonomous trading.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D6F84"/>
                </a:solidFill>
                <a:latin typeface="Aptos"/>
              </a:rPr>
              <a:t>Generic chatbot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9776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266EE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C34"/>
                </a:solidFill>
                <a:latin typeface="Aptos"/>
              </a:rPr>
              <a:t>Domain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9776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266EE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023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C34"/>
                </a:solidFill>
                <a:latin typeface="Aptos"/>
              </a:rPr>
              <a:t>Procurement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9776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266EE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A078"/>
                </a:solidFill>
                <a:latin typeface="Aptos"/>
              </a:rPr>
              <a:t>Controlled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C34"/>
                </a:solidFill>
                <a:latin typeface="Aptos"/>
              </a:rPr>
              <a:t>Competitive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F84"/>
                </a:solidFill>
                <a:latin typeface="Aptos"/>
              </a:rPr>
              <a:t>Ten official product platforms reviewed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F84"/>
                </a:solidFill>
                <a:latin typeface="Aptos"/>
              </a:rPr>
              <a:t>INNOWATT ENERGY AI  |  CONFIDENTIAL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D6F84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05740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73152" cy="1417320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GridBeyond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47672"/>
            <a:ext cx="1709928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Robotic trading &amp; flexibility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1417320"/>
            <a:ext cx="205740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39" y="1417320"/>
            <a:ext cx="73152" cy="1417320"/>
          </a:xfrm>
          <a:prstGeom prst="rect">
            <a:avLst/>
          </a:prstGeom>
          <a:solidFill>
            <a:srgbClr val="1B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5544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Fluence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1947672"/>
            <a:ext cx="1709928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Probabilistic bidding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1417320"/>
            <a:ext cx="205740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59" y="1417320"/>
            <a:ext cx="73152" cy="1417320"/>
          </a:xfrm>
          <a:prstGeom prst="rect">
            <a:avLst/>
          </a:prstGeom>
          <a:solidFill>
            <a:srgbClr val="1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15544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947672"/>
            <a:ext cx="1709928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Storage dispatch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417320"/>
            <a:ext cx="205740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417320"/>
            <a:ext cx="73152" cy="1417320"/>
          </a:xfrm>
          <a:prstGeom prst="rect">
            <a:avLst/>
          </a:prstGeom>
          <a:solidFill>
            <a:srgbClr val="F1A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59" y="15544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Kraken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59" y="1947672"/>
            <a:ext cx="1709928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Utility operating system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1417320"/>
            <a:ext cx="205740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29800" y="1417320"/>
            <a:ext cx="73152" cy="1417320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5544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Gridmatic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1947672"/>
            <a:ext cx="1709928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Automated market bids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474720"/>
            <a:ext cx="205740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474720"/>
            <a:ext cx="73152" cy="1417320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61187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Pexapark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005072"/>
            <a:ext cx="1709928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PPA risk &amp; pricing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39" y="3474720"/>
            <a:ext cx="205740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34639" y="3474720"/>
            <a:ext cx="73152" cy="1417320"/>
          </a:xfrm>
          <a:prstGeom prst="rect">
            <a:avLst/>
          </a:prstGeom>
          <a:solidFill>
            <a:srgbClr val="1B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361187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Bidgely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4005072"/>
            <a:ext cx="1709928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Meter AI &amp; agents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66359" y="3474720"/>
            <a:ext cx="205740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66359" y="3474720"/>
            <a:ext cx="73152" cy="1417320"/>
          </a:xfrm>
          <a:prstGeom prst="rect">
            <a:avLst/>
          </a:prstGeom>
          <a:solidFill>
            <a:srgbClr val="1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49240" y="361187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Siemens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4005072"/>
            <a:ext cx="1709928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Digital grid twin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79" y="3474720"/>
            <a:ext cx="205740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98079" y="3474720"/>
            <a:ext cx="73152" cy="1417320"/>
          </a:xfrm>
          <a:prstGeom prst="rect">
            <a:avLst/>
          </a:prstGeom>
          <a:solidFill>
            <a:srgbClr val="F1A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59" y="361187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Schneider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59" y="4005072"/>
            <a:ext cx="1709928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Enterprise energy data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29800" y="3474720"/>
            <a:ext cx="205740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829800" y="3474720"/>
            <a:ext cx="73152" cy="1417320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12680" y="361187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EnergyCAP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4005072"/>
            <a:ext cx="1709928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Bills &amp; anomalies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566928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A1C34"/>
                </a:solidFill>
                <a:latin typeface="Aptos"/>
              </a:rPr>
              <a:t>Common denominator: data → forecast → optimize → explain → automate with controls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C34"/>
                </a:solidFill>
                <a:latin typeface="Aptos"/>
              </a:rPr>
              <a:t>Trading and optimization leaders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F84"/>
                </a:solidFill>
                <a:latin typeface="Aptos"/>
              </a:rPr>
              <a:t>What their capabilities 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F84"/>
                </a:solidFill>
                <a:latin typeface="Aptos"/>
              </a:rPr>
              <a:t>INNOWATT ENERGY AI  |  CONFIDENTIAL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D6F84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429000" cy="150876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1508760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630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GridBeyond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56231"/>
            <a:ext cx="3081528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70+ data sources, ML forecasts, solvers and robotic trading monetize flexible assets.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25880"/>
            <a:ext cx="3429000" cy="150876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325880"/>
            <a:ext cx="73152" cy="1508760"/>
          </a:xfrm>
          <a:prstGeom prst="rect">
            <a:avLst/>
          </a:prstGeom>
          <a:solidFill>
            <a:srgbClr val="1B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4630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Fluence Mosaic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856231"/>
            <a:ext cx="3081528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Probabilistic price forecasts and stochastic optimization prepare constraint-compliant bids.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25880"/>
            <a:ext cx="3429000" cy="150876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73152" cy="1508760"/>
          </a:xfrm>
          <a:prstGeom prst="rect">
            <a:avLst/>
          </a:prstGeom>
          <a:solidFill>
            <a:srgbClr val="1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630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Gridmatic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856231"/>
            <a:ext cx="3081528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Weather, grid and market models drive automated price forecasts and market bids.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46120"/>
            <a:ext cx="3429000" cy="150876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246120"/>
            <a:ext cx="73152" cy="1508760"/>
          </a:xfrm>
          <a:prstGeom prst="rect">
            <a:avLst/>
          </a:prstGeom>
          <a:solidFill>
            <a:srgbClr val="F1A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38327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Stem PowerTrack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776472"/>
            <a:ext cx="3081528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Forecasting, value stacking and real-time dispatch optimize storage and hybrid assets.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0832" y="3246120"/>
            <a:ext cx="3429000" cy="150876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70832" y="3246120"/>
            <a:ext cx="73152" cy="1508760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338327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Pexapark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3776472"/>
            <a:ext cx="3081528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Forward curves and risk-adjusted valuation expose PPA and renewable capture-price risk.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246120"/>
            <a:ext cx="3429000" cy="150876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246120"/>
            <a:ext cx="73152" cy="1508760"/>
          </a:xfrm>
          <a:prstGeom prst="rect">
            <a:avLst/>
          </a:prstGeom>
          <a:solidFill>
            <a:srgbClr val="1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338327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Lesson for Innowatt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776472"/>
            <a:ext cx="3081528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A recommendation needs uncertainty, constraints, risk tolerance, scenarios and reproducibility.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C34"/>
                </a:solidFill>
                <a:latin typeface="Aptos"/>
              </a:rPr>
              <a:t>Enterprise data and operations leaders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F84"/>
                </a:solidFill>
                <a:latin typeface="Aptos"/>
              </a:rPr>
              <a:t>The operating foundation behind useful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F84"/>
                </a:solidFill>
                <a:latin typeface="Aptos"/>
              </a:rPr>
              <a:t>INNOWATT ENERGY AI  |  CONFIDENTIAL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D6F84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3429000" cy="160020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71600"/>
            <a:ext cx="73152" cy="1600200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Kraken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01952"/>
            <a:ext cx="3081528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Unified customer, billing, meter and DER workflows through a modular operating platform.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71600"/>
            <a:ext cx="3429000" cy="160020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371600"/>
            <a:ext cx="73152" cy="1600200"/>
          </a:xfrm>
          <a:prstGeom prst="rect">
            <a:avLst/>
          </a:prstGeom>
          <a:solidFill>
            <a:srgbClr val="1B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508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Bidgely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01952"/>
            <a:ext cx="3081528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Energy-specific ML, disaggregation, APIs/MCP and governed agent workflows.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429000" cy="160020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71600"/>
            <a:ext cx="73152" cy="1600200"/>
          </a:xfrm>
          <a:prstGeom prst="rect">
            <a:avLst/>
          </a:prstGeom>
          <a:solidFill>
            <a:srgbClr val="1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508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Siemens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901952"/>
            <a:ext cx="3081528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Shared digital twin, data validation, modular analytics and open APIs.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3429000"/>
            <a:ext cx="3429000" cy="160020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429000"/>
            <a:ext cx="73152" cy="1600200"/>
          </a:xfrm>
          <a:prstGeom prst="rect">
            <a:avLst/>
          </a:prstGeom>
          <a:solidFill>
            <a:srgbClr val="F1A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3566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Schneider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959352"/>
            <a:ext cx="3081528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Centralized bills, intervals, procurement, risk and sustainability intelligence.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3429000"/>
            <a:ext cx="3429000" cy="160020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6208" y="3429000"/>
            <a:ext cx="73152" cy="1600200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566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EnergyCAP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3959352"/>
            <a:ext cx="3081528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Normalized portfolio data, automated bill validation, anomalies and finance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C34"/>
                </a:solidFill>
                <a:latin typeface="Aptos"/>
              </a:rPr>
              <a:t>Innowatt differentiation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F84"/>
                </a:solidFill>
                <a:latin typeface="Aptos"/>
              </a:rPr>
              <a:t>Designed for Indian C&amp;I procurement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F84"/>
                </a:solidFill>
                <a:latin typeface="Aptos"/>
              </a:rPr>
              <a:t>INNOWATT ENERGY AI  |  CONFIDENTIAL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D6F84"/>
                </a:solidFill>
                <a:latin typeface="Apto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62233"/>
                </a:solidFill>
                <a:latin typeface="Aptos"/>
              </a:defRPr>
            </a:pPr>
            <a:r>
              <a:t>15-minute block-level planning and traceability</a:t>
            </a:r>
          </a:p>
          <a:p>
            <a:pPr>
              <a:spcAft>
                <a:spcPts val="900"/>
              </a:spcAft>
              <a:defRPr sz="1600">
                <a:solidFill>
                  <a:srgbClr val="162233"/>
                </a:solidFill>
                <a:latin typeface="Aptos"/>
              </a:defRPr>
            </a:pPr>
            <a:r>
              <a:t>DAM, RTM, GDAM and energy-schedule ingestion</a:t>
            </a:r>
          </a:p>
          <a:p>
            <a:pPr>
              <a:spcAft>
                <a:spcPts val="900"/>
              </a:spcAft>
              <a:defRPr sz="1600">
                <a:solidFill>
                  <a:srgbClr val="162233"/>
                </a:solidFill>
                <a:latin typeface="Aptos"/>
              </a:defRPr>
            </a:pPr>
            <a:r>
              <a:t>Monthly solar banking balance and expiry awareness</a:t>
            </a:r>
          </a:p>
          <a:p>
            <a:pPr>
              <a:spcAft>
                <a:spcPts val="900"/>
              </a:spcAft>
              <a:defRPr sz="1600">
                <a:solidFill>
                  <a:srgbClr val="162233"/>
                </a:solidFill>
                <a:latin typeface="Aptos"/>
              </a:defRPr>
            </a:pPr>
            <a:r>
              <a:t>Solar vs IEX vs TNEB cost and risk optimization</a:t>
            </a:r>
          </a:p>
          <a:p>
            <a:pPr>
              <a:spcAft>
                <a:spcPts val="900"/>
              </a:spcAft>
              <a:defRPr sz="1600">
                <a:solidFill>
                  <a:srgbClr val="162233"/>
                </a:solidFill>
                <a:latin typeface="Aptos"/>
              </a:defRPr>
            </a:pPr>
            <a:r>
              <a:t>Client and portfolio isolation for SaaS operation</a:t>
            </a:r>
          </a:p>
          <a:p>
            <a:pPr>
              <a:spcAft>
                <a:spcPts val="900"/>
              </a:spcAft>
              <a:defRPr sz="1600">
                <a:solidFill>
                  <a:srgbClr val="162233"/>
                </a:solidFill>
                <a:latin typeface="Aptos"/>
              </a:defRPr>
            </a:pPr>
            <a:r>
              <a:t>Explainable recommendations with approval controls</a:t>
            </a:r>
          </a:p>
          <a:p>
            <a:pPr>
              <a:spcAft>
                <a:spcPts val="900"/>
              </a:spcAft>
              <a:defRPr sz="1600">
                <a:solidFill>
                  <a:srgbClr val="162233"/>
                </a:solidFill>
                <a:latin typeface="Aptos"/>
              </a:defRPr>
            </a:pPr>
            <a:r>
              <a:t>Autonomous BI/data operations with complete audit trails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508760"/>
            <a:ext cx="4434840" cy="192024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12280" y="1508760"/>
            <a:ext cx="73152" cy="1920240"/>
          </a:xfrm>
          <a:prstGeom prst="rect">
            <a:avLst/>
          </a:prstGeom>
          <a:solidFill>
            <a:srgbClr val="1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64591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Product promise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039112"/>
            <a:ext cx="40873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Forecast demand, solar availability and IEX prices—then recommend the lowest-risk, lowest-cost procurement mix with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3749039"/>
            <a:ext cx="4434840" cy="164592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0" y="3749039"/>
            <a:ext cx="73152" cy="1645920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Defensible advantage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279392"/>
            <a:ext cx="40873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Localized market rules + client history + trusted data + optimization outcomes create a compounding domain-data moat.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C34"/>
                </a:solidFill>
                <a:latin typeface="Aptos"/>
              </a:rPr>
              <a:t>Target AI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F84"/>
                </a:solidFill>
                <a:latin typeface="Aptos"/>
              </a:rPr>
              <a:t>Generative AI explains and orchestrates; domain services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F84"/>
                </a:solidFill>
                <a:latin typeface="Aptos"/>
              </a:rPr>
              <a:t>INNOWATT ENERGY AI  |  CONFIDENTIAL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D6F84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188720"/>
            <a:ext cx="9966960" cy="566928"/>
          </a:xfrm>
          <a:prstGeom prst="roundRect">
            <a:avLst/>
          </a:prstGeom>
          <a:solidFill>
            <a:srgbClr val="5D6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2984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9844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Files • Email • Meters • Weather • IEX • Tariffs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1975104"/>
            <a:ext cx="9966960" cy="566928"/>
          </a:xfrm>
          <a:prstGeom prst="round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0848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084832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Ingestion • Validation • Lineage • Tenant scope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761488"/>
            <a:ext cx="9966960" cy="566928"/>
          </a:xfrm>
          <a:prstGeom prst="roundRect">
            <a:avLst/>
          </a:prstGeom>
          <a:solidFill>
            <a:srgbClr val="1B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8712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871216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Demand • Solar • Price forecasts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547872"/>
            <a:ext cx="9966960" cy="566928"/>
          </a:xfrm>
          <a:prstGeom prst="roundRect">
            <a:avLst/>
          </a:prstGeom>
          <a:solidFill>
            <a:srgbClr val="1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657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6576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Constraint-aware procurement optimizer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334256"/>
            <a:ext cx="9966960" cy="566928"/>
          </a:xfrm>
          <a:prstGeom prst="roundRect">
            <a:avLst/>
          </a:prstGeom>
          <a:solidFill>
            <a:srgbClr val="F1A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4439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Experience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443984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Dashboard • Chat • Alerts • Approval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120640"/>
            <a:ext cx="9966960" cy="566928"/>
          </a:xfrm>
          <a:prstGeom prst="round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52303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23036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Controlled execution • Reconciliation • Audit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C34"/>
                </a:solidFill>
                <a:latin typeface="Aptos"/>
              </a:rPr>
              <a:t>AI integration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F84"/>
                </a:solidFill>
                <a:latin typeface="Aptos"/>
              </a:rPr>
              <a:t>Value and autonomy increase only after trust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F84"/>
                </a:solidFill>
                <a:latin typeface="Aptos"/>
              </a:rPr>
              <a:t>INNOWATT ENERGY AI  |  CONFIDENTIAL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D6F84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2057400" cy="306324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73152" cy="3063240"/>
          </a:xfrm>
          <a:prstGeom prst="rect">
            <a:avLst/>
          </a:prstGeom>
          <a:solidFill>
            <a:srgbClr val="5D6F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4591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AI-0  Trust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39112"/>
            <a:ext cx="1709928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Contracts, lineage, audit, tenant authorization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7432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66EE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1508760"/>
            <a:ext cx="2057400" cy="306324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39" y="1508760"/>
            <a:ext cx="73152" cy="3063240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164591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AI-1  Read-only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039112"/>
            <a:ext cx="1709928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Data quality, explanations, evidence-backed 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7" y="27432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66E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59" y="1508760"/>
            <a:ext cx="2057400" cy="306324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66359" y="1508760"/>
            <a:ext cx="73152" cy="3063240"/>
          </a:xfrm>
          <a:prstGeom prst="rect">
            <a:avLst/>
          </a:prstGeom>
          <a:solidFill>
            <a:srgbClr val="1B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164591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AI-2  Forecasting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039112"/>
            <a:ext cx="1709928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Demand, solar and IEX forecasts with quantiles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8" y="27432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66EE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508760"/>
            <a:ext cx="2057400" cy="306324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1508760"/>
            <a:ext cx="73152" cy="3063240"/>
          </a:xfrm>
          <a:prstGeom prst="rect">
            <a:avLst/>
          </a:prstGeom>
          <a:solidFill>
            <a:srgbClr val="1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59" y="164591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AI-3  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59" y="2039112"/>
            <a:ext cx="1709928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Solar/IEX/TNEB scenarios and recommendations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7" y="27432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66EE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1508760"/>
            <a:ext cx="2057400" cy="306324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29800" y="1508760"/>
            <a:ext cx="73152" cy="3063240"/>
          </a:xfrm>
          <a:prstGeom prst="rect">
            <a:avLst/>
          </a:prstGeom>
          <a:solidFill>
            <a:srgbClr val="F1A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12680" y="164591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AI-4  Controlled autonomy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2039112"/>
            <a:ext cx="1709928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Email-to-dashboard, approvals and bounded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6636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C34"/>
                </a:solidFill>
                <a:latin typeface="Aptos"/>
              </a:rPr>
              <a:t>Gate each phase on evidence quality, tenant isolation, accuracy, reproducibility and audit completeness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C34"/>
                </a:solidFill>
                <a:latin typeface="Aptos"/>
              </a:rPr>
              <a:t>Agentic way of 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F84"/>
                </a:solidFill>
                <a:latin typeface="Aptos"/>
              </a:rPr>
              <a:t>Specialists govern; agents execute bounded repeatable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F84"/>
                </a:solidFill>
                <a:latin typeface="Aptos"/>
              </a:rPr>
              <a:t>INNOWATT ENERGY AI  |  CONFIDENTIAL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D6F84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371600"/>
            <a:ext cx="1234440" cy="658368"/>
          </a:xfrm>
          <a:prstGeom prst="round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57276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55448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D6F84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92224" y="1371600"/>
            <a:ext cx="1234440" cy="658368"/>
          </a:xfrm>
          <a:prstGeom prst="round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37943" y="157276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Classify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155448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D6F84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4408" y="1371600"/>
            <a:ext cx="1234440" cy="658368"/>
          </a:xfrm>
          <a:prstGeom prst="round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157276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155448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D6F84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36592" y="1371600"/>
            <a:ext cx="1234440" cy="658368"/>
          </a:xfrm>
          <a:prstGeom prst="round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157276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55448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D6F84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1371600"/>
            <a:ext cx="1234440" cy="658368"/>
          </a:xfrm>
          <a:prstGeom prst="round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57276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Use 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1504" y="155448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D6F84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1371600"/>
            <a:ext cx="1234440" cy="658368"/>
          </a:xfrm>
          <a:prstGeom prst="round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80" y="157276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3688" y="155448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D6F84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53144" y="1371600"/>
            <a:ext cx="1234440" cy="658368"/>
          </a:xfrm>
          <a:prstGeom prst="roundRect">
            <a:avLst/>
          </a:prstGeom>
          <a:solidFill>
            <a:srgbClr val="1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8864" y="157276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05872" y="1554480"/>
            <a:ext cx="201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D6F84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25328" y="1371600"/>
            <a:ext cx="1234440" cy="658368"/>
          </a:xfrm>
          <a:prstGeom prst="roundRect">
            <a:avLst/>
          </a:prstGeom>
          <a:solidFill>
            <a:srgbClr val="1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71048" y="157276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Escalate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2743200"/>
            <a:ext cx="5212080" cy="210312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2743200"/>
            <a:ext cx="73152" cy="2103120"/>
          </a:xfrm>
          <a:prstGeom prst="rect">
            <a:avLst/>
          </a:prstGeom>
          <a:solidFill>
            <a:srgbClr val="1B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288036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Agents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273552"/>
            <a:ext cx="4864608" cy="1481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Email intake • file classification • data quality • parser/upload • dashboard analyst • forecast monitor • procurement advisor • notification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2743200"/>
            <a:ext cx="5212080" cy="210312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2743200"/>
            <a:ext cx="73152" cy="2103120"/>
          </a:xfrm>
          <a:prstGeom prst="rect">
            <a:avLst/>
          </a:prstGeom>
          <a:solidFill>
            <a:srgbClr val="F1A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288036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Specialists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273552"/>
            <a:ext cx="4864608" cy="1481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Define policy • approve consequential actions • resolve exceptions • improve models and strategy • own client relationships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34924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C34"/>
                </a:solidFill>
                <a:latin typeface="Aptos"/>
              </a:rPr>
              <a:t>Autonomy ladder: Shadow → Assist → Supervised automation → Bounded autonomy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C34"/>
                </a:solidFill>
                <a:latin typeface="Aptos"/>
              </a:rPr>
              <a:t>Agent control plane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F84"/>
                </a:solidFill>
                <a:latin typeface="Aptos"/>
              </a:rPr>
              <a:t>How hundreds or thousands of agents stay manageable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F84"/>
                </a:solidFill>
                <a:latin typeface="Aptos"/>
              </a:rPr>
              <a:t>INNOWATT ENERGY AI  |  CONFIDENTIAL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D6F84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429000" cy="155448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1554480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630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56231"/>
            <a:ext cx="3081528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Identity • owner • version • status • triggers • tools • model policy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25880"/>
            <a:ext cx="3429000" cy="155448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325880"/>
            <a:ext cx="73152" cy="1554480"/>
          </a:xfrm>
          <a:prstGeom prst="rect">
            <a:avLst/>
          </a:prstGeom>
          <a:solidFill>
            <a:srgbClr val="1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4630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Permissions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856231"/>
            <a:ext cx="3081528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Tenant scope • read/write bounds • approvals • budgets • kill switch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25880"/>
            <a:ext cx="3429000" cy="155448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73152" cy="1554480"/>
          </a:xfrm>
          <a:prstGeom prst="rect">
            <a:avLst/>
          </a:prstGeom>
          <a:solidFill>
            <a:srgbClr val="1B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630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Observability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856231"/>
            <a:ext cx="3081528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Runs • tool calls • evidence • confidence • latency • cost • outcomes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3429000"/>
            <a:ext cx="3429000" cy="155448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429000"/>
            <a:ext cx="73152" cy="1554480"/>
          </a:xfrm>
          <a:prstGeom prst="rect">
            <a:avLst/>
          </a:prstGeom>
          <a:solidFill>
            <a:srgbClr val="F1A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3566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959352"/>
            <a:ext cx="3081528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Golden datasets • policy tests • replay • regression • drift detection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3429000"/>
            <a:ext cx="3429000" cy="155448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6208" y="3429000"/>
            <a:ext cx="73152" cy="1554480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566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Lifecycle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3959352"/>
            <a:ext cx="3081528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Proposed → active → deprecated → retired, with rollback and ownership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C34"/>
                </a:solidFill>
                <a:latin typeface="Aptos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F84"/>
                </a:solidFill>
                <a:latin typeface="Aptos"/>
              </a:rPr>
              <a:t>Build on the current product; add components only when justified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F84"/>
                </a:solidFill>
                <a:latin typeface="Aptos"/>
              </a:rPr>
              <a:t>INNOWATT ENERGY AI  |  CONFIDENTIAL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D6F84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3520440" cy="438912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234440"/>
            <a:ext cx="73152" cy="4389120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64792"/>
            <a:ext cx="3172968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React + TypeScript</a:t>
            </a:r>
            <a:br/>
            <a:r>
              <a:t>Material UI</a:t>
            </a:r>
            <a:br/>
            <a:r>
              <a:t>TanStack Query</a:t>
            </a:r>
            <a:br/>
            <a:r>
              <a:t>Forms + schema validation</a:t>
            </a:r>
            <a:br/>
            <a:r>
              <a:t>Charts, evidence, confidence, approval UI</a:t>
            </a:r>
            <a:br/>
            <a:r>
              <a:t>SSE for agent progress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234440"/>
            <a:ext cx="3520440" cy="438912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234440"/>
            <a:ext cx="73152" cy="4389120"/>
          </a:xfrm>
          <a:prstGeom prst="rect">
            <a:avLst/>
          </a:prstGeom>
          <a:solidFill>
            <a:srgbClr val="1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Backend &amp;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764792"/>
            <a:ext cx="3172968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FastAPI + Pydantic</a:t>
            </a:r>
            <a:br/>
            <a:r>
              <a:t>SQLAlchemy + PostgreSQL + Alembic</a:t>
            </a:r>
            <a:br/>
            <a:r>
              <a:t>Object storage for raw files</a:t>
            </a:r>
            <a:br/>
            <a:r>
              <a:t>Worker queue + Redis when needed</a:t>
            </a:r>
            <a:br/>
            <a:r>
              <a:t>OpenTelemetry and structured audit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234440"/>
            <a:ext cx="3520440" cy="438912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234440"/>
            <a:ext cx="73152" cy="4389120"/>
          </a:xfrm>
          <a:prstGeom prst="rect">
            <a:avLst/>
          </a:prstGeom>
          <a:solidFill>
            <a:srgbClr val="1B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AI, ML &amp;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764792"/>
            <a:ext cx="3172968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Provider-neutral AI adapter</a:t>
            </a:r>
            <a:br/>
            <a:r>
              <a:t>Versioned prompts and evaluations</a:t>
            </a:r>
            <a:br/>
            <a:r>
              <a:t>MLflow/equivalent model registry</a:t>
            </a:r>
            <a:br/>
            <a:r>
              <a:t>Baseline ML before complex models</a:t>
            </a:r>
            <a:br/>
            <a:r>
              <a:t>OR-Tools or Pyomo optimizer</a:t>
            </a:r>
            <a:br/>
            <a:r>
              <a:t>Tenant-scoped retrieval and tools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C34"/>
                </a:solidFill>
                <a:latin typeface="Aptos"/>
              </a:rPr>
              <a:t>Phase-wise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F84"/>
                </a:solidFill>
                <a:latin typeface="Aptos"/>
              </a:rPr>
              <a:t>Indicative ranges—re-estimate after foundation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F84"/>
                </a:solidFill>
                <a:latin typeface="Aptos"/>
              </a:rPr>
              <a:t>INNOWATT ENERGY AI  |  CONFIDENTIAL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D6F84"/>
                </a:solidFill>
                <a:latin typeface="Apto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441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D6F84"/>
                </a:solidFill>
                <a:latin typeface="Aptos"/>
              </a:rP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34416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C34"/>
                </a:solidFill>
                <a:latin typeface="Aptos"/>
              </a:rPr>
              <a:t>2–3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3441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2233"/>
                </a:solidFill>
                <a:latin typeface="Aptos"/>
              </a:rPr>
              <a:t>Contracts, lineage, audit, tenant authorization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810512"/>
            <a:ext cx="10424160" cy="13716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9397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66EE"/>
                </a:solidFill>
                <a:latin typeface="Aptos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09397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C34"/>
                </a:solidFill>
                <a:latin typeface="Aptos"/>
              </a:rPr>
              <a:t>3–4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093976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2233"/>
                </a:solidFill>
                <a:latin typeface="Aptos"/>
              </a:rPr>
              <a:t>Data Quality Agent, explanations, read-only chatbot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560320"/>
            <a:ext cx="10424160" cy="13716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4378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B5D2"/>
                </a:solidFill>
                <a:latin typeface="Aptos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284378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C34"/>
                </a:solidFill>
                <a:latin typeface="Aptos"/>
              </a:rPr>
              <a:t>6–8 weeks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843784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2233"/>
                </a:solidFill>
                <a:latin typeface="Aptos"/>
              </a:rPr>
              <a:t>Demand, solar and next-day IEX forecasting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310128"/>
            <a:ext cx="10424160" cy="13716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59359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A078"/>
                </a:solidFill>
                <a:latin typeface="Aptos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59359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C34"/>
                </a:solidFill>
                <a:latin typeface="Aptos"/>
              </a:rPr>
              <a:t>6–8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593592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2233"/>
                </a:solidFill>
                <a:latin typeface="Aptos"/>
              </a:rPr>
              <a:t>Procurement optimizer and scenario backtests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059936"/>
            <a:ext cx="10424160" cy="13716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34340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A62E"/>
                </a:solidFill>
                <a:latin typeface="Aptos"/>
              </a:rPr>
              <a:t>PHASE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34340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C34"/>
                </a:solidFill>
                <a:latin typeface="Aptos"/>
              </a:rPr>
              <a:t>6–10 weeks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34340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2233"/>
                </a:solidFill>
                <a:latin typeface="Aptos"/>
              </a:rPr>
              <a:t>Email-to-dashboard and approval workflows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9744"/>
            <a:ext cx="10424160" cy="13716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09320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C34"/>
                </a:solidFill>
                <a:latin typeface="Aptos"/>
              </a:rPr>
              <a:t>PHASE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5093207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C34"/>
                </a:solidFill>
                <a:latin typeface="Aptos"/>
              </a:rPr>
              <a:t>Governance gated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5093207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62233"/>
                </a:solidFill>
                <a:latin typeface="Aptos"/>
              </a:rPr>
              <a:t>Controlled market submission and reconciliation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559551"/>
            <a:ext cx="10424160" cy="13716"/>
          </a:xfrm>
          <a:prstGeom prst="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C34"/>
                </a:solidFill>
                <a:latin typeface="Aptos"/>
              </a:rPr>
              <a:t>First implementation epic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F84"/>
                </a:solidFill>
                <a:latin typeface="Aptos"/>
              </a:rPr>
              <a:t>Data Quality + Market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F84"/>
                </a:solidFill>
                <a:latin typeface="Aptos"/>
              </a:rPr>
              <a:t>INNOWATT ENERGY AI  |  CONFIDENTIAL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D6F84"/>
                </a:solidFill>
                <a:latin typeface="Apto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62233"/>
                </a:solidFill>
                <a:latin typeface="Aptos"/>
              </a:defRPr>
            </a:pPr>
            <a:r>
              <a:t>Define typed Pydantic request and response contracts</a:t>
            </a:r>
          </a:p>
          <a:p>
            <a:pPr>
              <a:spcAft>
                <a:spcPts val="900"/>
              </a:spcAft>
              <a:defRPr sz="1500">
                <a:solidFill>
                  <a:srgbClr val="162233"/>
                </a:solidFill>
                <a:latin typeface="Aptos"/>
              </a:defRPr>
            </a:pPr>
            <a:r>
              <a:t>Run deterministic quality rules before any LLM explanation</a:t>
            </a:r>
          </a:p>
          <a:p>
            <a:pPr>
              <a:spcAft>
                <a:spcPts val="900"/>
              </a:spcAft>
              <a:defRPr sz="1500">
                <a:solidFill>
                  <a:srgbClr val="162233"/>
                </a:solidFill>
                <a:latin typeface="Aptos"/>
              </a:defRPr>
            </a:pPr>
            <a:r>
              <a:t>Retrieve evidence only within client, portfolio and date scope</a:t>
            </a:r>
          </a:p>
          <a:p>
            <a:pPr>
              <a:spcAft>
                <a:spcPts val="900"/>
              </a:spcAft>
              <a:defRPr sz="1500">
                <a:solidFill>
                  <a:srgbClr val="162233"/>
                </a:solidFill>
                <a:latin typeface="Aptos"/>
              </a:defRPr>
            </a:pPr>
            <a:r>
              <a:t>Return finding, severity, evidence, confidence and recommended next step</a:t>
            </a:r>
          </a:p>
          <a:p>
            <a:pPr>
              <a:spcAft>
                <a:spcPts val="900"/>
              </a:spcAft>
              <a:defRPr sz="1500">
                <a:solidFill>
                  <a:srgbClr val="162233"/>
                </a:solidFill>
                <a:latin typeface="Aptos"/>
              </a:defRPr>
            </a:pPr>
            <a:r>
              <a:t>Create market explanations from approved analytics APIs</a:t>
            </a:r>
          </a:p>
          <a:p>
            <a:pPr>
              <a:spcAft>
                <a:spcPts val="900"/>
              </a:spcAft>
              <a:defRPr sz="1500">
                <a:solidFill>
                  <a:srgbClr val="162233"/>
                </a:solidFill>
                <a:latin typeface="Aptos"/>
              </a:defRPr>
            </a:pPr>
            <a:r>
              <a:t>Record model/prompt version, inputs, outputs, feedback and latency</a:t>
            </a:r>
          </a:p>
          <a:p>
            <a:pPr>
              <a:spcAft>
                <a:spcPts val="900"/>
              </a:spcAft>
              <a:defRPr sz="1500">
                <a:solidFill>
                  <a:srgbClr val="162233"/>
                </a:solidFill>
                <a:latin typeface="Aptos"/>
              </a:defRPr>
            </a:pPr>
            <a:r>
              <a:t>Add UI evidence panels and rigorous authorization/evaluation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417320"/>
            <a:ext cx="4251960" cy="150876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1417320"/>
            <a:ext cx="73152" cy="1508760"/>
          </a:xfrm>
          <a:prstGeom prst="rect">
            <a:avLst/>
          </a:prstGeom>
          <a:solidFill>
            <a:srgbClr val="F1A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5544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Release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947672"/>
            <a:ext cx="3904488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Read-only in production. No automatic correction, schedule mutation, bid placement or external notification.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3337560"/>
            <a:ext cx="4251960" cy="169164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9440" y="3337560"/>
            <a:ext cx="73152" cy="1691640"/>
          </a:xfrm>
          <a:prstGeom prst="rect">
            <a:avLst/>
          </a:prstGeom>
          <a:solidFill>
            <a:srgbClr val="1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34747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867911"/>
            <a:ext cx="3904488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≥90% seeded defect detection • zero cross-client exposure • evidence on every answer • useful specialist feedback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A1C34"/>
                </a:solidFill>
                <a:latin typeface="Aptos"/>
              </a:rPr>
              <a:t>Governance and success measures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1143000" cy="54864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75895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F84"/>
                </a:solidFill>
                <a:latin typeface="Aptos"/>
              </a:rPr>
              <a:t>AI earns autonomy through measured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D6F84"/>
                </a:solidFill>
                <a:latin typeface="Aptos"/>
              </a:rPr>
              <a:t>INNOWATT ENERGY AI  |  CONFIDENTIAL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D6F84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429000" cy="146304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73152" cy="1463040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630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56231"/>
            <a:ext cx="308152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Completeness • freshness • schema validity • lineage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25880"/>
            <a:ext cx="3429000" cy="146304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325880"/>
            <a:ext cx="73152" cy="1463040"/>
          </a:xfrm>
          <a:prstGeom prst="rect">
            <a:avLst/>
          </a:prstGeom>
          <a:solidFill>
            <a:srgbClr val="1BB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4630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856231"/>
            <a:ext cx="308152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Baseline lift • calibration • drift • client/block 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25880"/>
            <a:ext cx="3429000" cy="146304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73152" cy="1463040"/>
          </a:xfrm>
          <a:prstGeom prst="rect">
            <a:avLst/>
          </a:prstGeom>
          <a:solidFill>
            <a:srgbClr val="1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4630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856231"/>
            <a:ext cx="308152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Feasibility • savings • risk • replay reproducibility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4600" y="3337560"/>
            <a:ext cx="3429000" cy="146304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337560"/>
            <a:ext cx="73152" cy="1463040"/>
          </a:xfrm>
          <a:prstGeom prst="rect">
            <a:avLst/>
          </a:prstGeom>
          <a:solidFill>
            <a:srgbClr val="F1A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3474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867911"/>
            <a:ext cx="308152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Completion • exception rate • false actions • cost • latency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3337560"/>
            <a:ext cx="3429000" cy="146304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6208" y="3337560"/>
            <a:ext cx="73152" cy="1463040"/>
          </a:xfrm>
          <a:prstGeom prst="rect">
            <a:avLst/>
          </a:prstGeom>
          <a:solidFill>
            <a:srgbClr val="226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474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Business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3867911"/>
            <a:ext cx="308152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TNEB exposure • solar expiry • procurement cost • analyst 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B5D2"/>
                </a:solidFill>
                <a:latin typeface="Aptos"/>
              </a:rPr>
              <a:t>Decision requested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Start Phase AI-0 + AI-1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60320"/>
            <a:ext cx="8778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FDDEF"/>
                </a:solidFill>
                <a:latin typeface="Aptos"/>
              </a:rPr>
              <a:t>Build the trusted Data Quality and Market Explanation foundation before predictive procurement and autonomous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4069080"/>
            <a:ext cx="6583680" cy="1325880"/>
          </a:xfrm>
          <a:prstGeom prst="roundRect">
            <a:avLst/>
          </a:prstGeom>
          <a:solidFill>
            <a:srgbClr val="F1F6FC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4069080"/>
            <a:ext cx="73152" cy="1325880"/>
          </a:xfrm>
          <a:prstGeom prst="rect">
            <a:avLst/>
          </a:prstGeom>
          <a:solidFill>
            <a:srgbClr val="1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206240"/>
            <a:ext cx="6263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C34"/>
                </a:solidFill>
                <a:latin typeface="Aptos"/>
              </a:rPr>
              <a:t>Immediate sprint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599432"/>
            <a:ext cx="6236208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62233"/>
                </a:solidFill>
                <a:latin typeface="Aptos"/>
              </a:rPr>
              <a:t>Contracts • quality rules • tenant-safe evidence • audit events • read-only APIs • dashboard explanation UI • evaluation fixtures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598932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BB5D2"/>
                </a:solidFill>
                <a:latin typeface="Aptos"/>
              </a:rPr>
              <a:t>Innowatt Energy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